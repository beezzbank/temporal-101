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57609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42887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66558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49080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03392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5335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13946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8916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615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2720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8401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BAB498-43B8-4E7F-AB06-FD39403EFB4C}" type="datetimeFigureOut">
              <a:rPr lang="th-TH" smtClean="0"/>
              <a:t>28/09/69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6DD0B-6804-4B48-8283-F0F3CA9D1D32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7988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825500" y="939800"/>
            <a:ext cx="104140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b="1" smtClean="0">
                <a:solidFill>
                  <a:srgbClr val="D97706"/>
                </a:solidFill>
                <a:latin typeface="Leelawadee UI" panose="020B0502040204020203" pitchFamily="34" charset="-34"/>
              </a:rPr>
              <a:t>TEMPORAL KUBERNETES LAB</a:t>
            </a:r>
            <a:endParaRPr lang="th-TH" sz="1300" b="1">
              <a:solidFill>
                <a:srgbClr val="D97706"/>
              </a:solidFill>
              <a:latin typeface="Leelawadee UI" panose="020B05020402040202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5500" y="1841500"/>
            <a:ext cx="10414000" cy="5488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3400" b="1" smtClean="0">
                <a:solidFill>
                  <a:srgbClr val="FFFFFF"/>
                </a:solidFill>
                <a:latin typeface="Leelawadee UI" panose="020B0502040204020203" pitchFamily="34" charset="-34"/>
              </a:rPr>
              <a:t>สรุปการทำงาน\</a:t>
            </a:r>
            <a:r>
              <a:rPr lang="en-US" sz="3400" b="1" smtClean="0">
                <a:solidFill>
                  <a:srgbClr val="FFFFFF"/>
                </a:solidFill>
                <a:latin typeface="Leelawadee UI" panose="020B0502040204020203" pitchFamily="34" charset="-34"/>
              </a:rPr>
              <a:t>nTemporal Workflow</a:t>
            </a:r>
            <a:endParaRPr lang="th-TH" sz="3400" b="1">
              <a:solidFill>
                <a:srgbClr val="FFFFFF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3600" y="3556000"/>
            <a:ext cx="9906000" cy="3488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2100" smtClean="0">
                <a:solidFill>
                  <a:srgbClr val="F1EDE6"/>
                </a:solidFill>
                <a:latin typeface="Leelawadee UI" panose="020B0502040204020203" pitchFamily="34" charset="-34"/>
              </a:rPr>
              <a:t>จากคำสั่งซื้อหนึ่งรายการ\</a:t>
            </a:r>
            <a:r>
              <a:rPr lang="en-US" sz="2100" smtClean="0">
                <a:solidFill>
                  <a:srgbClr val="F1EDE6"/>
                </a:solidFill>
                <a:latin typeface="Leelawadee UI" panose="020B0502040204020203" pitchFamily="34" charset="-34"/>
              </a:rPr>
              <a:t>n</a:t>
            </a:r>
            <a:r>
              <a:rPr lang="th-TH" sz="2100" smtClean="0">
                <a:solidFill>
                  <a:srgbClr val="F1EDE6"/>
                </a:solidFill>
                <a:latin typeface="Leelawadee UI" panose="020B0502040204020203" pitchFamily="34" charset="-34"/>
              </a:rPr>
              <a:t>สู่ผลลัพธ์ที่ตรวจสอบย้อนหลังได้</a:t>
            </a:r>
            <a:endParaRPr lang="th-TH" sz="2100">
              <a:solidFill>
                <a:srgbClr val="F1EDE6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3600" y="5080000"/>
            <a:ext cx="5715000" cy="254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TextBox 6"/>
          <p:cNvSpPr txBox="1"/>
          <p:nvPr/>
        </p:nvSpPr>
        <p:spPr>
          <a:xfrm>
            <a:off x="863600" y="5334000"/>
            <a:ext cx="10414000" cy="25648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500" b="1" smtClean="0">
                <a:solidFill>
                  <a:srgbClr val="FFFFFF"/>
                </a:solidFill>
                <a:latin typeface="Leelawadee UI" panose="020B0502040204020203" pitchFamily="34" charset="-34"/>
              </a:rPr>
              <a:t>Webhook  →  Kafka  →  Temporal  →  Worker</a:t>
            </a:r>
            <a:endParaRPr lang="th-TH" sz="1500" b="1">
              <a:solidFill>
                <a:srgbClr val="FFFFFF"/>
              </a:solidFill>
              <a:latin typeface="Leelawadee UI" panose="020B0502040204020203" pitchFamily="34" charset="-3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600" y="6261100"/>
            <a:ext cx="104140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000" smtClean="0">
                <a:solidFill>
                  <a:srgbClr val="D8D0C5"/>
                </a:solidFill>
                <a:latin typeface="Leelawadee UI" panose="020B0502040204020203" pitchFamily="34" charset="-34"/>
              </a:rPr>
              <a:t>สรุปจากไฟล์ </a:t>
            </a:r>
            <a:r>
              <a:rPr lang="en-US" sz="1000" smtClean="0">
                <a:solidFill>
                  <a:srgbClr val="D8D0C5"/>
                </a:solidFill>
                <a:latin typeface="Leelawadee UI" panose="020B0502040204020203" pitchFamily="34" charset="-34"/>
              </a:rPr>
              <a:t>YAML </a:t>
            </a:r>
            <a:r>
              <a:rPr lang="th-TH" sz="1000" smtClean="0">
                <a:solidFill>
                  <a:srgbClr val="D8D0C5"/>
                </a:solidFill>
                <a:latin typeface="Leelawadee UI" panose="020B0502040204020203" pitchFamily="34" charset="-34"/>
              </a:rPr>
              <a:t>ในโครงการ </a:t>
            </a:r>
            <a:r>
              <a:rPr lang="en-US" sz="1000" smtClean="0">
                <a:solidFill>
                  <a:srgbClr val="D8D0C5"/>
                </a:solidFill>
                <a:latin typeface="Leelawadee UI" panose="020B0502040204020203" pitchFamily="34" charset="-34"/>
              </a:rPr>
              <a:t>temporalio</a:t>
            </a:r>
            <a:endParaRPr lang="th-TH" sz="1000">
              <a:solidFill>
                <a:srgbClr val="D8D0C5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8135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609600" y="381000"/>
            <a:ext cx="1079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 b="1" smtClean="0">
                <a:solidFill>
                  <a:srgbClr val="087F8C"/>
                </a:solidFill>
                <a:latin typeface="Leelawadee UI" panose="020B0502040204020203" pitchFamily="34" charset="-34"/>
              </a:rPr>
              <a:t>TEMPORAL WORKFLOW | ORDER PROCESSING</a:t>
            </a:r>
            <a:endParaRPr lang="th-TH" sz="1100" b="1">
              <a:solidFill>
                <a:srgbClr val="087F8C"/>
              </a:solidFill>
              <a:latin typeface="Leelawadee UI" panose="020B05020402040202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22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ภาพรวม: </a:t>
            </a:r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Event </a:t>
            </a:r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เดินทางอย่างไร</a:t>
            </a:r>
            <a:endParaRPr lang="th-TH" sz="27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77000"/>
            <a:ext cx="889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900" b="1" smtClean="0">
                <a:solidFill>
                  <a:srgbClr val="627D98"/>
                </a:solidFill>
                <a:latin typeface="Leelawadee UI" panose="020B0502040204020203" pitchFamily="34" charset="-34"/>
              </a:rPr>
              <a:t>TEMPORAL WORKFLOW SUMMARY</a:t>
            </a:r>
            <a:endParaRPr lang="th-TH" sz="900" b="1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38900"/>
            <a:ext cx="698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02 / 09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9600" y="2451100"/>
            <a:ext cx="14224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673100" y="2679700"/>
            <a:ext cx="12954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4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Client</a:t>
            </a:r>
            <a:endParaRPr lang="th-TH" sz="14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100" y="3225800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ส่งคำสั่งซื้อ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2082800" y="3073400"/>
            <a:ext cx="393700" cy="0"/>
          </a:xfrm>
          <a:prstGeom prst="line">
            <a:avLst/>
          </a:prstGeom>
          <a:ln w="27940">
            <a:solidFill>
              <a:srgbClr val="D977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590800" y="2451100"/>
            <a:ext cx="14224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TextBox 11"/>
          <p:cNvSpPr txBox="1"/>
          <p:nvPr/>
        </p:nvSpPr>
        <p:spPr>
          <a:xfrm>
            <a:off x="2654300" y="2679700"/>
            <a:ext cx="12954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4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Webhook API</a:t>
            </a:r>
            <a:endParaRPr lang="th-TH" sz="14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54300" y="3225800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รับและตรวจสอบ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4064000" y="3073400"/>
            <a:ext cx="393700" cy="0"/>
          </a:xfrm>
          <a:prstGeom prst="line">
            <a:avLst/>
          </a:prstGeom>
          <a:ln w="27940">
            <a:solidFill>
              <a:srgbClr val="D977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72000" y="2451100"/>
            <a:ext cx="14224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TextBox 15"/>
          <p:cNvSpPr txBox="1"/>
          <p:nvPr/>
        </p:nvSpPr>
        <p:spPr>
          <a:xfrm>
            <a:off x="4635500" y="2679700"/>
            <a:ext cx="12954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4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Kafka</a:t>
            </a:r>
            <a:endParaRPr lang="th-TH" sz="14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35500" y="3225800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order.created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6045200" y="3073400"/>
            <a:ext cx="393700" cy="0"/>
          </a:xfrm>
          <a:prstGeom prst="line">
            <a:avLst/>
          </a:prstGeom>
          <a:ln w="27940">
            <a:solidFill>
              <a:srgbClr val="D977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553200" y="2451100"/>
            <a:ext cx="14224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TextBox 19"/>
          <p:cNvSpPr txBox="1"/>
          <p:nvPr/>
        </p:nvSpPr>
        <p:spPr>
          <a:xfrm>
            <a:off x="6616700" y="2679700"/>
            <a:ext cx="1295400" cy="67197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4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Order Event\nConsumer</a:t>
            </a:r>
            <a:endParaRPr lang="th-TH" sz="14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16700" y="3225800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เริ่ม </a:t>
            </a:r>
            <a:r>
              <a:rPr lang="en-US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Workflow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22" name="Straight Connector 21"/>
          <p:cNvCxnSpPr/>
          <p:nvPr/>
        </p:nvCxnSpPr>
        <p:spPr>
          <a:xfrm>
            <a:off x="8026400" y="3073400"/>
            <a:ext cx="393700" cy="0"/>
          </a:xfrm>
          <a:prstGeom prst="line">
            <a:avLst/>
          </a:prstGeom>
          <a:ln w="27940">
            <a:solidFill>
              <a:srgbClr val="D977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34400" y="2451100"/>
            <a:ext cx="14224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TextBox 23"/>
          <p:cNvSpPr txBox="1"/>
          <p:nvPr/>
        </p:nvSpPr>
        <p:spPr>
          <a:xfrm>
            <a:off x="8597900" y="2679700"/>
            <a:ext cx="12954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4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Temporal\nServer</a:t>
            </a:r>
            <a:endParaRPr lang="th-TH" sz="14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97900" y="3225800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จัดการสถานะ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0007600" y="3073400"/>
            <a:ext cx="393700" cy="0"/>
          </a:xfrm>
          <a:prstGeom prst="line">
            <a:avLst/>
          </a:prstGeom>
          <a:ln w="27940">
            <a:solidFill>
              <a:srgbClr val="D977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515600" y="2451100"/>
            <a:ext cx="1422400" cy="124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TextBox 27"/>
          <p:cNvSpPr txBox="1"/>
          <p:nvPr/>
        </p:nvSpPr>
        <p:spPr>
          <a:xfrm>
            <a:off x="10579100" y="2679700"/>
            <a:ext cx="12954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4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Worker</a:t>
            </a:r>
            <a:endParaRPr lang="th-TH" sz="14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579100" y="3225800"/>
            <a:ext cx="12954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ทำ </a:t>
            </a:r>
            <a:r>
              <a:rPr lang="en-US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Activity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844800" y="4368800"/>
            <a:ext cx="6502400" cy="965200"/>
          </a:xfrm>
          <a:prstGeom prst="roundRect">
            <a:avLst/>
          </a:prstGeom>
          <a:solidFill>
            <a:srgbClr val="E4F0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1" name="TextBox 30"/>
          <p:cNvSpPr txBox="1"/>
          <p:nvPr/>
        </p:nvSpPr>
        <p:spPr>
          <a:xfrm>
            <a:off x="3048000" y="4559300"/>
            <a:ext cx="60960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700" b="1" smtClean="0">
                <a:solidFill>
                  <a:srgbClr val="2F7A47"/>
                </a:solidFill>
                <a:latin typeface="Leelawadee UI" panose="020B0502040204020203" pitchFamily="34" charset="-34"/>
              </a:rPr>
              <a:t>ผลลัพธ์: </a:t>
            </a:r>
            <a:r>
              <a:rPr lang="en-US" sz="1700" b="1" smtClean="0">
                <a:solidFill>
                  <a:srgbClr val="2F7A47"/>
                </a:solidFill>
                <a:latin typeface="Leelawadee UI" panose="020B0502040204020203" pitchFamily="34" charset="-34"/>
              </a:rPr>
              <a:t>OrderWorkflow </a:t>
            </a:r>
            <a:r>
              <a:rPr lang="th-TH" sz="1700" b="1" smtClean="0">
                <a:solidFill>
                  <a:srgbClr val="2F7A47"/>
                </a:solidFill>
                <a:latin typeface="Leelawadee UI" panose="020B0502040204020203" pitchFamily="34" charset="-34"/>
              </a:rPr>
              <a:t>เปลี่ยนเป็น </a:t>
            </a:r>
            <a:r>
              <a:rPr lang="en-US" sz="1700" b="1" smtClean="0">
                <a:solidFill>
                  <a:srgbClr val="2F7A47"/>
                </a:solidFill>
                <a:latin typeface="Leelawadee UI" panose="020B0502040204020203" pitchFamily="34" charset="-34"/>
              </a:rPr>
              <a:t>Completed</a:t>
            </a:r>
            <a:endParaRPr lang="th-TH" sz="1700" b="1">
              <a:solidFill>
                <a:srgbClr val="2F7A47"/>
              </a:solidFill>
              <a:latin typeface="Leelawadee UI" panose="020B0502040204020203" pitchFamily="34" charset="-3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48000" y="4953000"/>
            <a:ext cx="6096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2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ประวัติ </a:t>
            </a:r>
            <a:r>
              <a:rPr lang="en-US" sz="12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 </a:t>
            </a:r>
            <a:r>
              <a:rPr lang="th-TH" sz="12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ถูกเก็บไว้เพื่อตรวจสอบย้อนหลัง</a:t>
            </a:r>
            <a:endParaRPr lang="th-TH" sz="12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48056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609600" y="381000"/>
            <a:ext cx="1079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 b="1" smtClean="0">
                <a:solidFill>
                  <a:srgbClr val="087F8C"/>
                </a:solidFill>
                <a:latin typeface="Leelawadee UI" panose="020B0502040204020203" pitchFamily="34" charset="-34"/>
              </a:rPr>
              <a:t>TEMPORAL WORKFLOW | ORDER PROCESSING</a:t>
            </a:r>
            <a:endParaRPr lang="th-TH" sz="1100" b="1">
              <a:solidFill>
                <a:srgbClr val="087F8C"/>
              </a:solidFill>
              <a:latin typeface="Leelawadee UI" panose="020B05020402040202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22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ส่วนประกอบหลักและหน้าที่</a:t>
            </a:r>
            <a:endParaRPr lang="th-TH" sz="27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77000"/>
            <a:ext cx="889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900" b="1" smtClean="0">
                <a:solidFill>
                  <a:srgbClr val="627D98"/>
                </a:solidFill>
                <a:latin typeface="Leelawadee UI" panose="020B0502040204020203" pitchFamily="34" charset="-34"/>
              </a:rPr>
              <a:t>TEMPORAL WORKFLOW SUMMARY</a:t>
            </a:r>
            <a:endParaRPr lang="th-TH" sz="900" b="1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38900"/>
            <a:ext cx="698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03 / 09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5000" y="1625600"/>
            <a:ext cx="34798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635000" y="1625600"/>
            <a:ext cx="76200" cy="1905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863600" y="1803400"/>
            <a:ext cx="30734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Webhook API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2222500"/>
            <a:ext cx="3048000" cy="4257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รับคำสั่งซื้อ ตรวจสอบ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order_id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และ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customer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แล้วส่ง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Event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เข้า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Kafka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56100" y="1625600"/>
            <a:ext cx="34798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/>
          <p:cNvSpPr/>
          <p:nvPr/>
        </p:nvSpPr>
        <p:spPr>
          <a:xfrm>
            <a:off x="4356100" y="1625600"/>
            <a:ext cx="76200" cy="19050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/>
          <p:cNvSpPr txBox="1"/>
          <p:nvPr/>
        </p:nvSpPr>
        <p:spPr>
          <a:xfrm>
            <a:off x="4584700" y="1803400"/>
            <a:ext cx="30734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Kafka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84700" y="2222500"/>
            <a:ext cx="3048000" cy="4257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เก็บและส่งต่อ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Event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ผ่าน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Topic order.created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และแยกข้อมูลผิดไป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order.dlq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77200" y="1625600"/>
            <a:ext cx="34798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8077200" y="1625600"/>
            <a:ext cx="76200" cy="1905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TextBox 16"/>
          <p:cNvSpPr txBox="1"/>
          <p:nvPr/>
        </p:nvSpPr>
        <p:spPr>
          <a:xfrm>
            <a:off x="8305800" y="1803400"/>
            <a:ext cx="30734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Order Event Consumer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05800" y="2222500"/>
            <a:ext cx="3048000" cy="4257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อ่าน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Event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จาก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Kafka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แล้วเริ่ม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OrderWorkflow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ใน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Temporal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5000" y="3860800"/>
            <a:ext cx="34798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Rectangle 19"/>
          <p:cNvSpPr/>
          <p:nvPr/>
        </p:nvSpPr>
        <p:spPr>
          <a:xfrm>
            <a:off x="635000" y="3860800"/>
            <a:ext cx="76200" cy="19050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TextBox 20"/>
          <p:cNvSpPr txBox="1"/>
          <p:nvPr/>
        </p:nvSpPr>
        <p:spPr>
          <a:xfrm>
            <a:off x="863600" y="4038600"/>
            <a:ext cx="30734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Temporal Server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3600" y="4457700"/>
            <a:ext cx="3048000" cy="4257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รับคำสั่ง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จัดการ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Task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และบันทึกประวัติการทำงาน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356100" y="3860800"/>
            <a:ext cx="34798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Rectangle 23"/>
          <p:cNvSpPr/>
          <p:nvPr/>
        </p:nvSpPr>
        <p:spPr>
          <a:xfrm>
            <a:off x="4356100" y="3860800"/>
            <a:ext cx="76200" cy="1905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5" name="TextBox 24"/>
          <p:cNvSpPr txBox="1"/>
          <p:nvPr/>
        </p:nvSpPr>
        <p:spPr>
          <a:xfrm>
            <a:off x="4584700" y="4038600"/>
            <a:ext cx="30734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Temporal Worker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84700" y="4457700"/>
            <a:ext cx="3048000" cy="4257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Poll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งานจาก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hello-task-queue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แล้วรัน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และ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Activity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077200" y="3860800"/>
            <a:ext cx="34798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8" name="Rectangle 27"/>
          <p:cNvSpPr/>
          <p:nvPr/>
        </p:nvSpPr>
        <p:spPr>
          <a:xfrm>
            <a:off x="8077200" y="3860800"/>
            <a:ext cx="76200" cy="19050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9" name="TextBox 28"/>
          <p:cNvSpPr txBox="1"/>
          <p:nvPr/>
        </p:nvSpPr>
        <p:spPr>
          <a:xfrm>
            <a:off x="8305800" y="4038600"/>
            <a:ext cx="30734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ฐานข้อมูลและ </a:t>
            </a:r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UI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05800" y="4457700"/>
            <a:ext cx="3048000" cy="4257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PostgreSQL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เก็บประวัติ;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Elasticsearch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ใช้ค้นหา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Visibility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ผ่าน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Temporal UI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892397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609600" y="381000"/>
            <a:ext cx="1079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 b="1" smtClean="0">
                <a:solidFill>
                  <a:srgbClr val="087F8C"/>
                </a:solidFill>
                <a:latin typeface="Leelawadee UI" panose="020B0502040204020203" pitchFamily="34" charset="-34"/>
              </a:rPr>
              <a:t>TEMPORAL WORKFLOW | ORDER PROCESSING</a:t>
            </a:r>
            <a:endParaRPr lang="th-TH" sz="1100" b="1">
              <a:solidFill>
                <a:srgbClr val="087F8C"/>
              </a:solidFill>
              <a:latin typeface="Leelawadee UI" panose="020B05020402040202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22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1 | รับคำสั่งซื้อและส่ง </a:t>
            </a:r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Event</a:t>
            </a:r>
            <a:endParaRPr lang="th-TH" sz="27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77000"/>
            <a:ext cx="889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900" b="1" smtClean="0">
                <a:solidFill>
                  <a:srgbClr val="627D98"/>
                </a:solidFill>
                <a:latin typeface="Leelawadee UI" panose="020B0502040204020203" pitchFamily="34" charset="-34"/>
              </a:rPr>
              <a:t>TEMPORAL WORKFLOW SUMMARY</a:t>
            </a:r>
            <a:endParaRPr lang="th-TH" sz="900" b="1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38900"/>
            <a:ext cx="698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04 / 09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5000" y="1676400"/>
            <a:ext cx="51435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635000" y="1676400"/>
            <a:ext cx="76200" cy="39370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863600" y="1854200"/>
            <a:ext cx="47371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คำขอจาก </a:t>
            </a:r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Client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2273300"/>
            <a:ext cx="4711700" cy="6258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POST /webhooks/orders\n\n{\n  "order_id": "ORD-001",\n  "customer": "Alice"\n}\n\nAPI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ตรวจสอบข้อมูลที่จำเป็น หากไม่ครบจะตอบ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HTTP 400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1676400"/>
            <a:ext cx="5384800" cy="3937000"/>
          </a:xfrm>
          <a:prstGeom prst="roundRect">
            <a:avLst/>
          </a:prstGeom>
          <a:solidFill>
            <a:srgbClr val="E3F4F1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/>
          <p:cNvSpPr/>
          <p:nvPr/>
        </p:nvSpPr>
        <p:spPr>
          <a:xfrm>
            <a:off x="6172200" y="1676400"/>
            <a:ext cx="76200" cy="3937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/>
          <p:cNvSpPr txBox="1"/>
          <p:nvPr/>
        </p:nvSpPr>
        <p:spPr>
          <a:xfrm>
            <a:off x="6400800" y="1854200"/>
            <a:ext cx="49784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Webhook API → Kafka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0" y="2273300"/>
            <a:ext cx="4953000" cy="6258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เมื่อข้อมูลถูกต้อง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API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สร้าง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Event order.created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พร้อม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event_id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และ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occurred_at\n\n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ปลายทาง: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Kafka Topic order.created\n\nHTTP 202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หมายถึงรับงานไว้แล้ว การประมวลผลจะทำต่อแบบ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Asynchronous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55565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609600" y="381000"/>
            <a:ext cx="1079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 b="1" smtClean="0">
                <a:solidFill>
                  <a:srgbClr val="087F8C"/>
                </a:solidFill>
                <a:latin typeface="Leelawadee UI" panose="020B0502040204020203" pitchFamily="34" charset="-34"/>
              </a:rPr>
              <a:t>TEMPORAL WORKFLOW | ORDER PROCESSING</a:t>
            </a:r>
            <a:endParaRPr lang="th-TH" sz="1100" b="1">
              <a:solidFill>
                <a:srgbClr val="087F8C"/>
              </a:solidFill>
              <a:latin typeface="Leelawadee UI" panose="020B05020402040202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22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2 | Consumer </a:t>
            </a:r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เริ่ม </a:t>
            </a:r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OrderWorkflow</a:t>
            </a:r>
            <a:endParaRPr lang="th-TH" sz="27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77000"/>
            <a:ext cx="889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900" b="1" smtClean="0">
                <a:solidFill>
                  <a:srgbClr val="627D98"/>
                </a:solidFill>
                <a:latin typeface="Leelawadee UI" panose="020B0502040204020203" pitchFamily="34" charset="-34"/>
              </a:rPr>
              <a:t>TEMPORAL WORKFLOW SUMMARY</a:t>
            </a:r>
            <a:endParaRPr lang="th-TH" sz="900" b="1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38900"/>
            <a:ext cx="698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05 / 09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5000" y="1752600"/>
            <a:ext cx="3302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635000" y="1752600"/>
            <a:ext cx="76200" cy="2286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863600" y="1930400"/>
            <a:ext cx="2895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Kafka Consumer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2349500"/>
            <a:ext cx="2870200" cy="6258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อ่าน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Event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จาก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order.created\n\nConsumer group: temporal-order-consumer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45000" y="1752600"/>
            <a:ext cx="3302000" cy="2286000"/>
          </a:xfrm>
          <a:prstGeom prst="roundRect">
            <a:avLst/>
          </a:prstGeom>
          <a:solidFill>
            <a:srgbClr val="E3F4F1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/>
          <p:cNvSpPr/>
          <p:nvPr/>
        </p:nvSpPr>
        <p:spPr>
          <a:xfrm>
            <a:off x="4445000" y="1752600"/>
            <a:ext cx="76200" cy="22860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/>
          <p:cNvSpPr txBox="1"/>
          <p:nvPr/>
        </p:nvSpPr>
        <p:spPr>
          <a:xfrm>
            <a:off x="4673600" y="1930400"/>
            <a:ext cx="2895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Temporal Client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73600" y="2349500"/>
            <a:ext cx="2870200" cy="4257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เริ่ม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 Type: OrderWorkflow\n\n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ส่ง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order_id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และ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customer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เป็น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Input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55000" y="1752600"/>
            <a:ext cx="33020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8255000" y="1752600"/>
            <a:ext cx="76200" cy="22860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TextBox 16"/>
          <p:cNvSpPr txBox="1"/>
          <p:nvPr/>
        </p:nvSpPr>
        <p:spPr>
          <a:xfrm>
            <a:off x="8483600" y="1930400"/>
            <a:ext cx="2895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Workflow Identity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83600" y="2349500"/>
            <a:ext cx="2870200" cy="6258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 ID: order-ORD-001\n\nID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รูปแบบ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order-&lt;order_id&gt;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ช่วยป้องกันการเริ่มซ้ำสำหรับ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Order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เดิม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3987800" y="2895600"/>
            <a:ext cx="355600" cy="0"/>
          </a:xfrm>
          <a:prstGeom prst="line">
            <a:avLst/>
          </a:prstGeom>
          <a:ln w="27940">
            <a:solidFill>
              <a:srgbClr val="087F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797800" y="2895600"/>
            <a:ext cx="355600" cy="0"/>
          </a:xfrm>
          <a:prstGeom prst="line">
            <a:avLst/>
          </a:prstGeom>
          <a:ln w="27940">
            <a:solidFill>
              <a:srgbClr val="087F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320800" y="4635500"/>
            <a:ext cx="9550400" cy="863600"/>
          </a:xfrm>
          <a:prstGeom prst="roundRect">
            <a:avLst/>
          </a:prstGeom>
          <a:solidFill>
            <a:srgbClr val="0B203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2" name="TextBox 21"/>
          <p:cNvSpPr txBox="1"/>
          <p:nvPr/>
        </p:nvSpPr>
        <p:spPr>
          <a:xfrm>
            <a:off x="1574800" y="4838700"/>
            <a:ext cx="90424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600" b="1" smtClean="0">
                <a:solidFill>
                  <a:srgbClr val="FFFFFF"/>
                </a:solidFill>
                <a:latin typeface="Leelawadee UI" panose="020B0502040204020203" pitchFamily="34" charset="-34"/>
              </a:rPr>
              <a:t>Task Queue: hello-task-queue     |     Workflow: OrderWorkflow</a:t>
            </a:r>
            <a:endParaRPr lang="th-TH" sz="1600" b="1">
              <a:solidFill>
                <a:srgbClr val="FFFFFF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90435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609600" y="381000"/>
            <a:ext cx="1079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 b="1" smtClean="0">
                <a:solidFill>
                  <a:srgbClr val="087F8C"/>
                </a:solidFill>
                <a:latin typeface="Leelawadee UI" panose="020B0502040204020203" pitchFamily="34" charset="-34"/>
              </a:rPr>
              <a:t>TEMPORAL WORKFLOW | ORDER PROCESSING</a:t>
            </a:r>
            <a:endParaRPr lang="th-TH" sz="1100" b="1">
              <a:solidFill>
                <a:srgbClr val="087F8C"/>
              </a:solidFill>
              <a:latin typeface="Leelawadee UI" panose="020B05020402040202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22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3 | Temporal </a:t>
            </a:r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จัดการ </a:t>
            </a:r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Task </a:t>
            </a:r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และประวัติ</a:t>
            </a:r>
            <a:endParaRPr lang="th-TH" sz="27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77000"/>
            <a:ext cx="889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900" b="1" smtClean="0">
                <a:solidFill>
                  <a:srgbClr val="627D98"/>
                </a:solidFill>
                <a:latin typeface="Leelawadee UI" panose="020B0502040204020203" pitchFamily="34" charset="-34"/>
              </a:rPr>
              <a:t>TEMPORAL WORKFLOW SUMMARY</a:t>
            </a:r>
            <a:endParaRPr lang="th-TH" sz="900" b="1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38900"/>
            <a:ext cx="698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06 / 09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0400" y="1841500"/>
            <a:ext cx="3276600" cy="259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660400" y="1841500"/>
            <a:ext cx="76200" cy="25908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889000" y="2019300"/>
            <a:ext cx="28702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Temporal Server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9000" y="2438400"/>
            <a:ext cx="2844800" cy="6258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รับคำขอจาก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Consumer\n\n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บันทึกสถานะและประวัติ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Workflow\n\n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สร้าง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Task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ลงใน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hello-task-queue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45000" y="1841500"/>
            <a:ext cx="3276600" cy="2590800"/>
          </a:xfrm>
          <a:prstGeom prst="roundRect">
            <a:avLst/>
          </a:prstGeom>
          <a:solidFill>
            <a:srgbClr val="E3F4F1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/>
          <p:cNvSpPr/>
          <p:nvPr/>
        </p:nvSpPr>
        <p:spPr>
          <a:xfrm>
            <a:off x="4445000" y="1841500"/>
            <a:ext cx="76200" cy="25908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/>
          <p:cNvSpPr txBox="1"/>
          <p:nvPr/>
        </p:nvSpPr>
        <p:spPr>
          <a:xfrm>
            <a:off x="4673600" y="2019300"/>
            <a:ext cx="28702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Durable Storage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73600" y="2438400"/>
            <a:ext cx="2844800" cy="6258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PostgreSQL\n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สถานะและประวัติ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Workflow\n\nElasticsearch\n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ข้อมูล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Visibility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สำหรับการค้นหา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1841500"/>
            <a:ext cx="3276600" cy="259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8229600" y="1841500"/>
            <a:ext cx="76200" cy="25908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TextBox 16"/>
          <p:cNvSpPr txBox="1"/>
          <p:nvPr/>
        </p:nvSpPr>
        <p:spPr>
          <a:xfrm>
            <a:off x="8458200" y="2019300"/>
            <a:ext cx="28702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Temporal Worker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58200" y="2438400"/>
            <a:ext cx="2844800" cy="62581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เชื่อมต่อกับ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Server\n\nPoll hello-task-queue\n\n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รับงาน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OrderWorkflow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ไปประมวลผล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3987800" y="3111500"/>
            <a:ext cx="355600" cy="0"/>
          </a:xfrm>
          <a:prstGeom prst="line">
            <a:avLst/>
          </a:prstGeom>
          <a:ln w="27940">
            <a:solidFill>
              <a:srgbClr val="D977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772400" y="3111500"/>
            <a:ext cx="355600" cy="0"/>
          </a:xfrm>
          <a:prstGeom prst="line">
            <a:avLst/>
          </a:prstGeom>
          <a:ln w="27940">
            <a:solidFill>
              <a:srgbClr val="D977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70000" y="4991100"/>
            <a:ext cx="96520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600" b="1" smtClean="0">
                <a:solidFill>
                  <a:srgbClr val="102A43"/>
                </a:solidFill>
                <a:latin typeface="Leelawadee UI" panose="020B0502040204020203" pitchFamily="34" charset="-34"/>
              </a:rPr>
              <a:t>Temporal </a:t>
            </a:r>
            <a:r>
              <a:rPr lang="th-TH" sz="1600" b="1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เก็บประวัติ </a:t>
            </a:r>
            <a:r>
              <a:rPr lang="en-US" sz="1600" b="1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 </a:t>
            </a:r>
            <a:r>
              <a:rPr lang="th-TH" sz="1600" b="1" smtClean="0">
                <a:solidFill>
                  <a:srgbClr val="102A43"/>
                </a:solidFill>
                <a:latin typeface="Leelawadee UI" panose="020B0502040204020203" pitchFamily="34" charset="-34"/>
              </a:rPr>
              <a:t>ให้ติดตามสถานะและตรวจสอบการทำงานได้</a:t>
            </a:r>
            <a:endParaRPr lang="th-TH" sz="1600" b="1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32200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609600" y="381000"/>
            <a:ext cx="1079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 b="1" smtClean="0">
                <a:solidFill>
                  <a:srgbClr val="087F8C"/>
                </a:solidFill>
                <a:latin typeface="Leelawadee UI" panose="020B0502040204020203" pitchFamily="34" charset="-34"/>
              </a:rPr>
              <a:t>TEMPORAL WORKFLOW | ORDER PROCESSING</a:t>
            </a:r>
            <a:endParaRPr lang="th-TH" sz="1100" b="1">
              <a:solidFill>
                <a:srgbClr val="087F8C"/>
              </a:solidFill>
              <a:latin typeface="Leelawadee UI" panose="020B05020402040202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22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4 | Activity </a:t>
            </a:r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ทำงานและ </a:t>
            </a:r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Workflow </a:t>
            </a:r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สำเร็จ</a:t>
            </a:r>
            <a:endParaRPr lang="th-TH" sz="27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77000"/>
            <a:ext cx="889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900" b="1" smtClean="0">
                <a:solidFill>
                  <a:srgbClr val="627D98"/>
                </a:solidFill>
                <a:latin typeface="Leelawadee UI" panose="020B0502040204020203" pitchFamily="34" charset="-34"/>
              </a:rPr>
              <a:t>TEMPORAL WORKFLOW SUMMARY</a:t>
            </a:r>
            <a:endParaRPr lang="th-TH" sz="900" b="1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38900"/>
            <a:ext cx="698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07 / 09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168400" y="1803400"/>
            <a:ext cx="9855200" cy="1117600"/>
          </a:xfrm>
          <a:prstGeom prst="roundRect">
            <a:avLst/>
          </a:prstGeom>
          <a:solidFill>
            <a:srgbClr val="E3F4F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1498600" y="1993900"/>
            <a:ext cx="9194800" cy="3180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9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OrderWorkflow </a:t>
            </a:r>
            <a:r>
              <a:rPr lang="th-TH" sz="19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เรียก </a:t>
            </a:r>
            <a:r>
              <a:rPr lang="en-US" sz="19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Activity: process_order</a:t>
            </a:r>
            <a:endParaRPr lang="th-TH" sz="19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98600" y="2438400"/>
            <a:ext cx="91948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Input: order_id = ORD-001  |  customer = Alice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0" y="3098800"/>
            <a:ext cx="0" cy="482600"/>
          </a:xfrm>
          <a:prstGeom prst="line">
            <a:avLst/>
          </a:prstGeom>
          <a:ln w="27940">
            <a:solidFill>
              <a:srgbClr val="087F8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68400" y="3733800"/>
            <a:ext cx="9855200" cy="1219200"/>
          </a:xfrm>
          <a:prstGeom prst="roundRect">
            <a:avLst/>
          </a:prstGeom>
          <a:solidFill>
            <a:srgbClr val="E4F0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TextBox 11"/>
          <p:cNvSpPr txBox="1"/>
          <p:nvPr/>
        </p:nvSpPr>
        <p:spPr>
          <a:xfrm>
            <a:off x="1498600" y="3937000"/>
            <a:ext cx="9194800" cy="302647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800" b="1" smtClean="0">
                <a:solidFill>
                  <a:srgbClr val="2F7A47"/>
                </a:solidFill>
                <a:latin typeface="Leelawadee UI" panose="020B0502040204020203" pitchFamily="34" charset="-34"/>
              </a:rPr>
              <a:t>Order ORD-001 for Alice processed successfully</a:t>
            </a:r>
            <a:endParaRPr lang="th-TH" sz="1800" b="1">
              <a:solidFill>
                <a:srgbClr val="2F7A47"/>
              </a:solidFill>
              <a:latin typeface="Leelawadee UI" panose="020B0502040204020203" pitchFamily="34" charset="-3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98600" y="4381500"/>
            <a:ext cx="91948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4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สถานะ </a:t>
            </a:r>
            <a:r>
              <a:rPr lang="en-US" sz="14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Workflow: COMPLETED  |  </a:t>
            </a:r>
            <a:r>
              <a:rPr lang="th-TH" sz="14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บันทึกผลและประวัติใน </a:t>
            </a:r>
            <a:r>
              <a:rPr lang="en-US" sz="1400" smtClean="0">
                <a:solidFill>
                  <a:srgbClr val="102A43"/>
                </a:solidFill>
                <a:latin typeface="Leelawadee UI" panose="020B0502040204020203" pitchFamily="34" charset="-34"/>
              </a:rPr>
              <a:t>Temporal</a:t>
            </a:r>
            <a:endParaRPr lang="th-TH" sz="14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78000" y="5473700"/>
            <a:ext cx="8636000" cy="2410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400" smtClean="0">
                <a:solidFill>
                  <a:srgbClr val="627D98"/>
                </a:solidFill>
                <a:latin typeface="Leelawadee UI" panose="020B0502040204020203" pitchFamily="34" charset="-34"/>
              </a:rPr>
              <a:t>Worker </a:t>
            </a:r>
            <a:r>
              <a:rPr lang="th-TH" sz="1400" smtClean="0">
                <a:solidFill>
                  <a:srgbClr val="627D98"/>
                </a:solidFill>
                <a:latin typeface="Leelawadee UI" panose="020B0502040204020203" pitchFamily="34" charset="-34"/>
              </a:rPr>
              <a:t>ส่งผล </a:t>
            </a:r>
            <a:r>
              <a:rPr lang="en-US" sz="1400" smtClean="0">
                <a:solidFill>
                  <a:srgbClr val="627D98"/>
                </a:solidFill>
                <a:latin typeface="Leelawadee UI" panose="020B0502040204020203" pitchFamily="34" charset="-34"/>
              </a:rPr>
              <a:t>Activity </a:t>
            </a:r>
            <a:r>
              <a:rPr lang="th-TH" sz="1400" smtClean="0">
                <a:solidFill>
                  <a:srgbClr val="627D98"/>
                </a:solidFill>
                <a:latin typeface="Leelawadee UI" panose="020B0502040204020203" pitchFamily="34" charset="-34"/>
              </a:rPr>
              <a:t>กลับไปยัง </a:t>
            </a:r>
            <a:r>
              <a:rPr lang="en-US" sz="1400" smtClean="0">
                <a:solidFill>
                  <a:srgbClr val="627D98"/>
                </a:solidFill>
                <a:latin typeface="Leelawadee UI" panose="020B0502040204020203" pitchFamily="34" charset="-34"/>
              </a:rPr>
              <a:t>Temporal Server</a:t>
            </a:r>
            <a:endParaRPr lang="th-TH" sz="14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65188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609600" y="381000"/>
            <a:ext cx="1079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 b="1" smtClean="0">
                <a:solidFill>
                  <a:srgbClr val="087F8C"/>
                </a:solidFill>
                <a:latin typeface="Leelawadee UI" panose="020B0502040204020203" pitchFamily="34" charset="-34"/>
              </a:rPr>
              <a:t>TEMPORAL WORKFLOW | ORDER PROCESSING</a:t>
            </a:r>
            <a:endParaRPr lang="th-TH" sz="1100" b="1">
              <a:solidFill>
                <a:srgbClr val="087F8C"/>
              </a:solidFill>
              <a:latin typeface="Leelawadee UI" panose="020B05020402040202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22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กรณี </a:t>
            </a:r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Event </a:t>
            </a:r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ไม่ถูกต้อง: ส่งเข้า </a:t>
            </a:r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DLQ</a:t>
            </a:r>
            <a:endParaRPr lang="th-TH" sz="27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77000"/>
            <a:ext cx="889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900" b="1" smtClean="0">
                <a:solidFill>
                  <a:srgbClr val="627D98"/>
                </a:solidFill>
                <a:latin typeface="Leelawadee UI" panose="020B0502040204020203" pitchFamily="34" charset="-34"/>
              </a:rPr>
              <a:t>TEMPORAL WORKFLOW SUMMARY</a:t>
            </a:r>
            <a:endParaRPr lang="th-TH" sz="900" b="1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38900"/>
            <a:ext cx="698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08 / 09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2095500"/>
            <a:ext cx="3048000" cy="121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TextBox 7"/>
          <p:cNvSpPr txBox="1"/>
          <p:nvPr/>
        </p:nvSpPr>
        <p:spPr>
          <a:xfrm>
            <a:off x="1143000" y="2413000"/>
            <a:ext cx="2590800" cy="4873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5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order.created\nEvent </a:t>
            </a:r>
            <a:r>
              <a:rPr lang="th-TH" sz="15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จาก </a:t>
            </a:r>
            <a:r>
              <a:rPr lang="en-US" sz="15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Kafka</a:t>
            </a:r>
            <a:endParaRPr lang="th-TH" sz="15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4064000" y="2705100"/>
            <a:ext cx="1117600" cy="0"/>
          </a:xfrm>
          <a:prstGeom prst="line">
            <a:avLst/>
          </a:prstGeom>
          <a:ln w="27940">
            <a:solidFill>
              <a:srgbClr val="D977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34000" y="2095500"/>
            <a:ext cx="3048000" cy="1219200"/>
          </a:xfrm>
          <a:prstGeom prst="roundRect">
            <a:avLst/>
          </a:prstGeom>
          <a:solidFill>
            <a:srgbClr val="F8EA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TextBox 10"/>
          <p:cNvSpPr txBox="1"/>
          <p:nvPr/>
        </p:nvSpPr>
        <p:spPr>
          <a:xfrm>
            <a:off x="5588000" y="2413000"/>
            <a:ext cx="2540000" cy="4873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5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ตรวจสอบข้อมูล\</a:t>
            </a:r>
            <a:r>
              <a:rPr lang="en-US" sz="15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norder_id + customer</a:t>
            </a:r>
            <a:endParaRPr lang="th-TH" sz="15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8483600" y="2705100"/>
            <a:ext cx="1117600" cy="0"/>
          </a:xfrm>
          <a:prstGeom prst="line">
            <a:avLst/>
          </a:prstGeom>
          <a:ln w="27940">
            <a:solidFill>
              <a:srgbClr val="D977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753600" y="2095500"/>
            <a:ext cx="1803400" cy="1219200"/>
          </a:xfrm>
          <a:prstGeom prst="roundRect">
            <a:avLst/>
          </a:prstGeom>
          <a:solidFill>
            <a:srgbClr val="F8EA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TextBox 13"/>
          <p:cNvSpPr txBox="1"/>
          <p:nvPr/>
        </p:nvSpPr>
        <p:spPr>
          <a:xfrm>
            <a:off x="9906000" y="2451100"/>
            <a:ext cx="1498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order.dlq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59000" y="4191000"/>
            <a:ext cx="7874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TextBox 15"/>
          <p:cNvSpPr txBox="1"/>
          <p:nvPr/>
        </p:nvSpPr>
        <p:spPr>
          <a:xfrm>
            <a:off x="2463800" y="4419600"/>
            <a:ext cx="7264400" cy="4873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ctr"/>
            <a:r>
              <a:rPr lang="th-TH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เมื่อข้อมูลจำเป็นไม่ครบ </a:t>
            </a:r>
            <a:r>
              <a:rPr lang="en-US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Consumer </a:t>
            </a:r>
            <a:r>
              <a:rPr lang="th-TH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จะไม่เริ่ม </a:t>
            </a:r>
            <a:r>
              <a:rPr lang="en-US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Workflow\n</a:t>
            </a:r>
            <a:r>
              <a:rPr lang="th-TH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แต่เพิ่มข้อความ </a:t>
            </a:r>
            <a:r>
              <a:rPr lang="en-US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Error </a:t>
            </a:r>
            <a:r>
              <a:rPr lang="th-TH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แล้วส่ง </a:t>
            </a:r>
            <a:r>
              <a:rPr lang="en-US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Event </a:t>
            </a:r>
            <a:r>
              <a:rPr lang="th-TH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ไป </a:t>
            </a:r>
            <a:r>
              <a:rPr lang="en-US" sz="1500" smtClean="0">
                <a:solidFill>
                  <a:srgbClr val="102A43"/>
                </a:solidFill>
                <a:latin typeface="Leelawadee UI" panose="020B0502040204020203" pitchFamily="34" charset="-34"/>
              </a:rPr>
              <a:t>Dead Letter Queue</a:t>
            </a:r>
            <a:endParaRPr lang="th-TH" sz="15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1966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" name="TextBox 2"/>
          <p:cNvSpPr txBox="1"/>
          <p:nvPr/>
        </p:nvSpPr>
        <p:spPr>
          <a:xfrm>
            <a:off x="609600" y="381000"/>
            <a:ext cx="10795000" cy="19492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100" b="1" smtClean="0">
                <a:solidFill>
                  <a:srgbClr val="087F8C"/>
                </a:solidFill>
                <a:latin typeface="Leelawadee UI" panose="020B0502040204020203" pitchFamily="34" charset="-34"/>
              </a:rPr>
              <a:t>TEMPORAL WORKFLOW | ORDER PROCESSING</a:t>
            </a:r>
            <a:endParaRPr lang="th-TH" sz="1100" b="1">
              <a:solidFill>
                <a:srgbClr val="087F8C"/>
              </a:solidFill>
              <a:latin typeface="Leelawadee UI" panose="020B0502040204020203" pitchFamily="34" charset="-3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22000" cy="4565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ประโยชน์และ </a:t>
            </a:r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Workflow </a:t>
            </a:r>
            <a:r>
              <a:rPr lang="th-TH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ใน </a:t>
            </a:r>
            <a:r>
              <a:rPr lang="en-US" sz="27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Worker</a:t>
            </a:r>
            <a:endParaRPr lang="th-TH" sz="27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477000"/>
            <a:ext cx="889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900" b="1" smtClean="0">
                <a:solidFill>
                  <a:srgbClr val="627D98"/>
                </a:solidFill>
                <a:latin typeface="Leelawadee UI" panose="020B0502040204020203" pitchFamily="34" charset="-34"/>
              </a:rPr>
              <a:t>TEMPORAL WORKFLOW SUMMARY</a:t>
            </a:r>
            <a:endParaRPr lang="th-TH" sz="900" b="1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2000" y="6438900"/>
            <a:ext cx="6985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pPr algn="r"/>
            <a:r>
              <a:rPr lang="th-TH" sz="1000" smtClean="0">
                <a:solidFill>
                  <a:srgbClr val="627D98"/>
                </a:solidFill>
                <a:latin typeface="Leelawadee UI" panose="020B0502040204020203" pitchFamily="34" charset="-34"/>
              </a:rPr>
              <a:t>09 / 09</a:t>
            </a:r>
            <a:endParaRPr lang="th-TH" sz="10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5000" y="15748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ectangle 7"/>
          <p:cNvSpPr/>
          <p:nvPr/>
        </p:nvSpPr>
        <p:spPr>
          <a:xfrm>
            <a:off x="635000" y="1574800"/>
            <a:ext cx="76200" cy="990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9" name="TextBox 8"/>
          <p:cNvSpPr txBox="1"/>
          <p:nvPr/>
        </p:nvSpPr>
        <p:spPr>
          <a:xfrm>
            <a:off x="863600" y="1752600"/>
            <a:ext cx="4927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API </a:t>
            </a:r>
            <a:r>
              <a:rPr lang="th-TH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ตอบกลับเร็ว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3600" y="2171700"/>
            <a:ext cx="4902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ไม่ต้องรอให้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ทำงานจนจบ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5000" y="27432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ectangle 11"/>
          <p:cNvSpPr/>
          <p:nvPr/>
        </p:nvSpPr>
        <p:spPr>
          <a:xfrm>
            <a:off x="635000" y="2743200"/>
            <a:ext cx="76200" cy="9906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TextBox 12"/>
          <p:cNvSpPr txBox="1"/>
          <p:nvPr/>
        </p:nvSpPr>
        <p:spPr>
          <a:xfrm>
            <a:off x="863600" y="2921000"/>
            <a:ext cx="4927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แยกส่วนและรองรับโหลด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3600" y="3340100"/>
            <a:ext cx="4902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Kafka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คั่นระหว่างการรับและประมวลผลคำสั่งซื้อ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5000" y="39116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635000" y="3911600"/>
            <a:ext cx="76200" cy="9906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TextBox 16"/>
          <p:cNvSpPr txBox="1"/>
          <p:nvPr/>
        </p:nvSpPr>
        <p:spPr>
          <a:xfrm>
            <a:off x="863600" y="4089400"/>
            <a:ext cx="4927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ตรวจสอบและกู้คืน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63600" y="4508500"/>
            <a:ext cx="4902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Temporal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เก็บประวัติ;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UI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ช่วยดูสถานะและข้อผิดพลาด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35000" y="5080000"/>
            <a:ext cx="533400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0" name="Rectangle 19"/>
          <p:cNvSpPr/>
          <p:nvPr/>
        </p:nvSpPr>
        <p:spPr>
          <a:xfrm>
            <a:off x="635000" y="5080000"/>
            <a:ext cx="76200" cy="9906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1" name="TextBox 20"/>
          <p:cNvSpPr txBox="1"/>
          <p:nvPr/>
        </p:nvSpPr>
        <p:spPr>
          <a:xfrm>
            <a:off x="863600" y="5257800"/>
            <a:ext cx="4927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ป้องกันและจัดการซ้ำ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63600" y="5676900"/>
            <a:ext cx="4902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Workflow ID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คงที่;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Event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ผิดส่งไป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DLQ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40500" y="1574800"/>
            <a:ext cx="48895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200" b="1" smtClean="0">
                <a:solidFill>
                  <a:srgbClr val="087F8C"/>
                </a:solidFill>
                <a:latin typeface="Leelawadee UI" panose="020B0502040204020203" pitchFamily="34" charset="-34"/>
              </a:rPr>
              <a:t>WORKFLOW TYPES</a:t>
            </a:r>
            <a:endParaRPr lang="th-TH" sz="1200" b="1">
              <a:solidFill>
                <a:srgbClr val="087F8C"/>
              </a:solidFill>
              <a:latin typeface="Leelawadee UI" panose="020B0502040204020203" pitchFamily="34" charset="-3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477000" y="2006600"/>
            <a:ext cx="5080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5" name="Rectangle 24"/>
          <p:cNvSpPr/>
          <p:nvPr/>
        </p:nvSpPr>
        <p:spPr>
          <a:xfrm>
            <a:off x="6477000" y="2006600"/>
            <a:ext cx="76200" cy="10922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6" name="TextBox 25"/>
          <p:cNvSpPr txBox="1"/>
          <p:nvPr/>
        </p:nvSpPr>
        <p:spPr>
          <a:xfrm>
            <a:off x="6705600" y="2184400"/>
            <a:ext cx="4673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GreetingWorkflow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05600" y="2603500"/>
            <a:ext cx="4648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Activity: say_hello  | 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ผลลัพธ์: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Hello, &lt;name&gt;!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77000" y="3238500"/>
            <a:ext cx="5080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9" name="Rectangle 28"/>
          <p:cNvSpPr/>
          <p:nvPr/>
        </p:nvSpPr>
        <p:spPr>
          <a:xfrm>
            <a:off x="6477000" y="3238500"/>
            <a:ext cx="76200" cy="1092200"/>
          </a:xfrm>
          <a:prstGeom prst="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0" name="TextBox 29"/>
          <p:cNvSpPr txBox="1"/>
          <p:nvPr/>
        </p:nvSpPr>
        <p:spPr>
          <a:xfrm>
            <a:off x="6705600" y="3416300"/>
            <a:ext cx="4673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FailingWorkflow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05600" y="3835400"/>
            <a:ext cx="4648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Activity: fail_on_purpose  | 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ผลลัพธ์: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Failed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477000" y="4470400"/>
            <a:ext cx="5080000" cy="109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9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3" name="Rectangle 32"/>
          <p:cNvSpPr/>
          <p:nvPr/>
        </p:nvSpPr>
        <p:spPr>
          <a:xfrm>
            <a:off x="6477000" y="4470400"/>
            <a:ext cx="76200" cy="1092200"/>
          </a:xfrm>
          <a:prstGeom prst="rect">
            <a:avLst/>
          </a:prstGeom>
          <a:solidFill>
            <a:srgbClr val="087F8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34" name="TextBox 33"/>
          <p:cNvSpPr txBox="1"/>
          <p:nvPr/>
        </p:nvSpPr>
        <p:spPr>
          <a:xfrm>
            <a:off x="6705600" y="4648200"/>
            <a:ext cx="4673600" cy="27186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600" b="1" smtClean="0">
                <a:solidFill>
                  <a:srgbClr val="0B2034"/>
                </a:solidFill>
                <a:latin typeface="Leelawadee UI" panose="020B0502040204020203" pitchFamily="34" charset="-34"/>
              </a:rPr>
              <a:t>OrderWorkflow</a:t>
            </a:r>
            <a:endParaRPr lang="th-TH" sz="1600" b="1">
              <a:solidFill>
                <a:srgbClr val="0B2034"/>
              </a:solidFill>
              <a:latin typeface="Leelawadee UI" panose="020B0502040204020203" pitchFamily="34" charset="-3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05600" y="5067300"/>
            <a:ext cx="4648200" cy="2257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Activity: process_order  |  </a:t>
            </a:r>
            <a:r>
              <a:rPr lang="th-TH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ผลลัพธ์: </a:t>
            </a:r>
            <a:r>
              <a:rPr lang="en-US" sz="1300" smtClean="0">
                <a:solidFill>
                  <a:srgbClr val="102A43"/>
                </a:solidFill>
                <a:latin typeface="Leelawadee UI" panose="020B0502040204020203" pitchFamily="34" charset="-34"/>
              </a:rPr>
              <a:t>Completed</a:t>
            </a:r>
            <a:endParaRPr lang="th-TH" sz="1300">
              <a:solidFill>
                <a:srgbClr val="102A43"/>
              </a:solidFill>
              <a:latin typeface="Leelawadee UI" panose="020B0502040204020203" pitchFamily="34" charset="-3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77000" y="5753100"/>
            <a:ext cx="5080000" cy="16414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th-TH" sz="900" smtClean="0">
                <a:solidFill>
                  <a:srgbClr val="627D98"/>
                </a:solidFill>
                <a:latin typeface="Leelawadee UI" panose="020B0502040204020203" pitchFamily="34" charset="-34"/>
              </a:rPr>
              <a:t>หมายเหตุ: ตรวจสอบ </a:t>
            </a:r>
            <a:r>
              <a:rPr lang="en-US" sz="900" smtClean="0">
                <a:solidFill>
                  <a:srgbClr val="627D98"/>
                </a:solidFill>
                <a:latin typeface="Leelawadee UI" panose="020B0502040204020203" pitchFamily="34" charset="-34"/>
              </a:rPr>
              <a:t>indentation </a:t>
            </a:r>
            <a:r>
              <a:rPr lang="th-TH" sz="900" smtClean="0">
                <a:solidFill>
                  <a:srgbClr val="627D98"/>
                </a:solidFill>
                <a:latin typeface="Leelawadee UI" panose="020B0502040204020203" pitchFamily="34" charset="-34"/>
              </a:rPr>
              <a:t>ของ </a:t>
            </a:r>
            <a:r>
              <a:rPr lang="en-US" sz="900" smtClean="0">
                <a:solidFill>
                  <a:srgbClr val="627D98"/>
                </a:solidFill>
                <a:latin typeface="Leelawadee UI" panose="020B0502040204020203" pitchFamily="34" charset="-34"/>
              </a:rPr>
              <a:t>stop_kafka_producer </a:t>
            </a:r>
            <a:r>
              <a:rPr lang="th-TH" sz="900" smtClean="0">
                <a:solidFill>
                  <a:srgbClr val="627D98"/>
                </a:solidFill>
                <a:latin typeface="Leelawadee UI" panose="020B0502040204020203" pitchFamily="34" charset="-34"/>
              </a:rPr>
              <a:t>ใน 60-</a:t>
            </a:r>
            <a:r>
              <a:rPr lang="en-US" sz="900" smtClean="0">
                <a:solidFill>
                  <a:srgbClr val="627D98"/>
                </a:solidFill>
                <a:latin typeface="Leelawadee UI" panose="020B0502040204020203" pitchFamily="34" charset="-34"/>
              </a:rPr>
              <a:t>webhook-api.yaml </a:t>
            </a:r>
            <a:r>
              <a:rPr lang="th-TH" sz="900" smtClean="0">
                <a:solidFill>
                  <a:srgbClr val="627D98"/>
                </a:solidFill>
                <a:latin typeface="Leelawadee UI" panose="020B0502040204020203" pitchFamily="34" charset="-34"/>
              </a:rPr>
              <a:t>หาก </a:t>
            </a:r>
            <a:r>
              <a:rPr lang="en-US" sz="900" smtClean="0">
                <a:solidFill>
                  <a:srgbClr val="627D98"/>
                </a:solidFill>
                <a:latin typeface="Leelawadee UI" panose="020B0502040204020203" pitchFamily="34" charset="-34"/>
              </a:rPr>
              <a:t>API </a:t>
            </a:r>
            <a:r>
              <a:rPr lang="th-TH" sz="900" smtClean="0">
                <a:solidFill>
                  <a:srgbClr val="627D98"/>
                </a:solidFill>
                <a:latin typeface="Leelawadee UI" panose="020B0502040204020203" pitchFamily="34" charset="-34"/>
              </a:rPr>
              <a:t>เริ่มไม่ได้</a:t>
            </a:r>
            <a:endParaRPr lang="th-TH" sz="900">
              <a:solidFill>
                <a:srgbClr val="627D98"/>
              </a:solidFill>
              <a:latin typeface="Leelawadee UI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51153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617</Words>
  <Application>Microsoft Office PowerPoint</Application>
  <PresentationFormat>Custom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Angsana New</vt:lpstr>
      <vt:lpstr>Arial</vt:lpstr>
      <vt:lpstr>Calibri</vt:lpstr>
      <vt:lpstr>Calibri Light</vt:lpstr>
      <vt:lpstr>Cordia New</vt:lpstr>
      <vt:lpstr>Leelawadee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Ronnasit Komlue</dc:creator>
  <cp:lastModifiedBy>Ronnasit Komlue</cp:lastModifiedBy>
  <cp:revision>1</cp:revision>
  <dcterms:created xsi:type="dcterms:W3CDTF">2026-09-28T03:48:10Z</dcterms:created>
  <dcterms:modified xsi:type="dcterms:W3CDTF">2026-09-28T03:48:10Z</dcterms:modified>
</cp:coreProperties>
</file>